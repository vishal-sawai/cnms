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57"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D89E5-50E3-EB0A-8320-CDE00F571F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42B4D9-EB2D-8989-5303-BE6BB4965C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3A9DFD-416D-5719-713A-AA9B6C9124AD}"/>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5" name="Footer Placeholder 4">
            <a:extLst>
              <a:ext uri="{FF2B5EF4-FFF2-40B4-BE49-F238E27FC236}">
                <a16:creationId xmlns:a16="http://schemas.microsoft.com/office/drawing/2014/main" id="{6B1EAAF6-D730-0EAA-3BDF-D614D0689B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8A8650-293E-706D-7B60-54819D21E4A8}"/>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2196470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A8EF0-52F3-65E6-FD6F-B9E0653A85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6D1F70-D8AD-0FCC-1F23-EE0A1242EB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55AE5D-4DC6-D5D7-657D-B01B0520721E}"/>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5" name="Footer Placeholder 4">
            <a:extLst>
              <a:ext uri="{FF2B5EF4-FFF2-40B4-BE49-F238E27FC236}">
                <a16:creationId xmlns:a16="http://schemas.microsoft.com/office/drawing/2014/main" id="{211CA790-E039-EA16-B7FD-36B9207681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CB3927-D852-4E3E-9FA3-49C1D7EFE8C8}"/>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372018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FD2A3-961C-BF46-B70A-6ED595AE18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89AC64-8BA9-FE2C-CBE4-3654A940E7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1C0A59-03C4-B610-E3A4-E856DD735402}"/>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5" name="Footer Placeholder 4">
            <a:extLst>
              <a:ext uri="{FF2B5EF4-FFF2-40B4-BE49-F238E27FC236}">
                <a16:creationId xmlns:a16="http://schemas.microsoft.com/office/drawing/2014/main" id="{619C6A23-35ED-89C2-52C3-F9AEF3C1D6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CC18E-1478-09C9-1798-E802BD2AA7D1}"/>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2516439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F660-FBE2-C930-96F0-136179D3B2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11D307-470F-15FC-B2BD-2D47EEE5B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7C1E45-5149-542B-BB46-53997F2D75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285DD1-70A8-0A8A-877A-E3728A886530}"/>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6" name="Footer Placeholder 5">
            <a:extLst>
              <a:ext uri="{FF2B5EF4-FFF2-40B4-BE49-F238E27FC236}">
                <a16:creationId xmlns:a16="http://schemas.microsoft.com/office/drawing/2014/main" id="{418493C5-83EF-A85A-5F5A-27006D331E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76FCE8-C619-F4D2-E173-FF5B9AFB1E4C}"/>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2267118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0F886-8EE3-C00B-C87A-3B9BC321DF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CE372E-2F92-7E09-42BF-D3C0F2CAE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08FB77-90DD-C607-63E9-BBDF8D6980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300218-0A98-EBB4-DFB6-EC88DB646D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A5D6CF-34C8-DCA4-45E9-32C549E255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3158C9-898A-7E81-4CD8-50F30FCA27AF}"/>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8" name="Footer Placeholder 7">
            <a:extLst>
              <a:ext uri="{FF2B5EF4-FFF2-40B4-BE49-F238E27FC236}">
                <a16:creationId xmlns:a16="http://schemas.microsoft.com/office/drawing/2014/main" id="{F70C1AE6-1AC5-15DB-0927-6A01E53F1D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5006EA-42CE-E90F-634E-EAAF9019F49A}"/>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151947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FA60D-3BC0-87EC-A8C8-E918C42EB2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1481B2-6B69-3F11-55DA-3B411B80408E}"/>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4" name="Footer Placeholder 3">
            <a:extLst>
              <a:ext uri="{FF2B5EF4-FFF2-40B4-BE49-F238E27FC236}">
                <a16:creationId xmlns:a16="http://schemas.microsoft.com/office/drawing/2014/main" id="{BC292AAB-7BE3-E2DD-235D-8B50B4B46F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42A4AF-C74F-14C6-0075-9EB0321C9189}"/>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1455605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62C4B1-F891-AE93-1B7E-7852DB3FEDE4}"/>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3" name="Footer Placeholder 2">
            <a:extLst>
              <a:ext uri="{FF2B5EF4-FFF2-40B4-BE49-F238E27FC236}">
                <a16:creationId xmlns:a16="http://schemas.microsoft.com/office/drawing/2014/main" id="{7D1B9737-D920-50FA-C062-D8E82AC9A4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C8ADB7-09AE-AD74-1A31-881A5483FC91}"/>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3680908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A202-B440-2A94-309E-5FC008DBF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7B182D-93D9-0F7B-44F5-3F989E7C01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048FBF-9521-BAA0-72F8-84BD80D17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0CBE3E-ADC5-39AA-9408-6BC6427C84DE}"/>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6" name="Footer Placeholder 5">
            <a:extLst>
              <a:ext uri="{FF2B5EF4-FFF2-40B4-BE49-F238E27FC236}">
                <a16:creationId xmlns:a16="http://schemas.microsoft.com/office/drawing/2014/main" id="{38A11E44-D111-B09A-5930-BCCC7B76A6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1D97CA-CE76-ED91-8E28-1C55AF1B38F8}"/>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2379332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D38D6-F742-E7F1-D39F-D84F29BED1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A0316F-9246-FD21-CE41-BBEAD1434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AD8B71-1C64-E8BF-40E3-5DA232B6D9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58EA50-5B3C-DBB9-50D5-60D1096D3BDC}"/>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6" name="Footer Placeholder 5">
            <a:extLst>
              <a:ext uri="{FF2B5EF4-FFF2-40B4-BE49-F238E27FC236}">
                <a16:creationId xmlns:a16="http://schemas.microsoft.com/office/drawing/2014/main" id="{23128B58-504A-930B-87EB-F22A8D020A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46B27F-7017-8EFF-E70D-94B080EA458E}"/>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4283386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A9242-A568-E353-B0EF-257A348A490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D2426E-39E0-B38B-15A9-848268110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E52561-AB60-B8EB-B497-86E30BC0CB06}"/>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5" name="Footer Placeholder 4">
            <a:extLst>
              <a:ext uri="{FF2B5EF4-FFF2-40B4-BE49-F238E27FC236}">
                <a16:creationId xmlns:a16="http://schemas.microsoft.com/office/drawing/2014/main" id="{23314042-5D2C-3A71-A26B-A6CB88E0BA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7246F7-D7D7-6239-2761-55354CFE65B3}"/>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2938202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EF0FCD-26B5-7F4E-C7D5-A9EB5A2DE0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62CC91-ECB5-0D30-34A2-BC0D45E20A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5A0F21-216E-01D6-CB5B-C569D0066BCB}"/>
              </a:ext>
            </a:extLst>
          </p:cNvPr>
          <p:cNvSpPr>
            <a:spLocks noGrp="1"/>
          </p:cNvSpPr>
          <p:nvPr>
            <p:ph type="dt" sz="half" idx="10"/>
          </p:nvPr>
        </p:nvSpPr>
        <p:spPr/>
        <p:txBody>
          <a:bodyPr/>
          <a:lstStyle/>
          <a:p>
            <a:fld id="{66DAD4FF-1251-4E27-9AA9-ED89025FAE61}" type="datetimeFigureOut">
              <a:rPr lang="en-IN" smtClean="0"/>
              <a:t>03-02-2023</a:t>
            </a:fld>
            <a:endParaRPr lang="en-IN"/>
          </a:p>
        </p:txBody>
      </p:sp>
      <p:sp>
        <p:nvSpPr>
          <p:cNvPr id="5" name="Footer Placeholder 4">
            <a:extLst>
              <a:ext uri="{FF2B5EF4-FFF2-40B4-BE49-F238E27FC236}">
                <a16:creationId xmlns:a16="http://schemas.microsoft.com/office/drawing/2014/main" id="{432440E8-8CC3-CA17-5D28-23A0933507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B9542-592D-F0B4-A386-E36735D00781}"/>
              </a:ext>
            </a:extLst>
          </p:cNvPr>
          <p:cNvSpPr>
            <a:spLocks noGrp="1"/>
          </p:cNvSpPr>
          <p:nvPr>
            <p:ph type="sldNum" sz="quarter" idx="12"/>
          </p:nvPr>
        </p:nvSpPr>
        <p:spPr/>
        <p:txBody>
          <a:bodyPr/>
          <a:lstStyle/>
          <a:p>
            <a:fld id="{89B3474B-B397-4793-86ED-1F8F840C11CA}" type="slidenum">
              <a:rPr lang="en-IN" smtClean="0"/>
              <a:t>‹#›</a:t>
            </a:fld>
            <a:endParaRPr lang="en-IN"/>
          </a:p>
        </p:txBody>
      </p:sp>
    </p:spTree>
    <p:extLst>
      <p:ext uri="{BB962C8B-B14F-4D97-AF65-F5344CB8AC3E}">
        <p14:creationId xmlns:p14="http://schemas.microsoft.com/office/powerpoint/2010/main" val="3367372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0776FB-FBE2-F0BD-8F2F-067543AFA5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9A6229-5366-87CE-C97A-601212BE4D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49737E-5D37-EA08-ED07-B89F609879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DAD4FF-1251-4E27-9AA9-ED89025FAE61}" type="datetimeFigureOut">
              <a:rPr lang="en-IN" smtClean="0"/>
              <a:t>03-02-2023</a:t>
            </a:fld>
            <a:endParaRPr lang="en-IN"/>
          </a:p>
        </p:txBody>
      </p:sp>
      <p:sp>
        <p:nvSpPr>
          <p:cNvPr id="5" name="Footer Placeholder 4">
            <a:extLst>
              <a:ext uri="{FF2B5EF4-FFF2-40B4-BE49-F238E27FC236}">
                <a16:creationId xmlns:a16="http://schemas.microsoft.com/office/drawing/2014/main" id="{6A7F0554-80F7-EEAD-E00B-9B80C44FA5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F8669A-BB7A-B429-5BF9-33254BB2D9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B3474B-B397-4793-86ED-1F8F840C11CA}" type="slidenum">
              <a:rPr lang="en-IN" smtClean="0"/>
              <a:t>‹#›</a:t>
            </a:fld>
            <a:endParaRPr lang="en-IN"/>
          </a:p>
        </p:txBody>
      </p:sp>
    </p:spTree>
    <p:extLst>
      <p:ext uri="{BB962C8B-B14F-4D97-AF65-F5344CB8AC3E}">
        <p14:creationId xmlns:p14="http://schemas.microsoft.com/office/powerpoint/2010/main" val="753215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CB17-7DBF-E1CF-6BDF-9567BB1D3062}"/>
              </a:ext>
            </a:extLst>
          </p:cNvPr>
          <p:cNvSpPr>
            <a:spLocks noGrp="1"/>
          </p:cNvSpPr>
          <p:nvPr>
            <p:ph type="ctrTitle"/>
          </p:nvPr>
        </p:nvSpPr>
        <p:spPr/>
        <p:txBody>
          <a:bodyPr/>
          <a:lstStyle/>
          <a:p>
            <a:r>
              <a:rPr lang="en-IN" dirty="0"/>
              <a:t>CNMS</a:t>
            </a:r>
          </a:p>
        </p:txBody>
      </p:sp>
      <p:sp>
        <p:nvSpPr>
          <p:cNvPr id="3" name="Subtitle 2">
            <a:extLst>
              <a:ext uri="{FF2B5EF4-FFF2-40B4-BE49-F238E27FC236}">
                <a16:creationId xmlns:a16="http://schemas.microsoft.com/office/drawing/2014/main" id="{192E2F1D-A5E9-73B1-1273-1A06B5144E53}"/>
              </a:ext>
            </a:extLst>
          </p:cNvPr>
          <p:cNvSpPr>
            <a:spLocks noGrp="1"/>
          </p:cNvSpPr>
          <p:nvPr>
            <p:ph type="subTitle" idx="1"/>
          </p:nvPr>
        </p:nvSpPr>
        <p:spPr/>
        <p:txBody>
          <a:bodyPr/>
          <a:lstStyle/>
          <a:p>
            <a:r>
              <a:rPr lang="en-IN" sz="1800" dirty="0">
                <a:solidFill>
                  <a:srgbClr val="000000"/>
                </a:solidFill>
                <a:effectLst/>
                <a:latin typeface="Times New Roman" panose="02020603050405020304" pitchFamily="18" charset="0"/>
                <a:ea typeface="Times New Roman" panose="02020603050405020304" pitchFamily="18" charset="0"/>
              </a:rPr>
              <a:t>College Notes Management System </a:t>
            </a:r>
            <a:endParaRPr lang="en-IN" dirty="0"/>
          </a:p>
        </p:txBody>
      </p:sp>
    </p:spTree>
    <p:extLst>
      <p:ext uri="{BB962C8B-B14F-4D97-AF65-F5344CB8AC3E}">
        <p14:creationId xmlns:p14="http://schemas.microsoft.com/office/powerpoint/2010/main" val="3430984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221E-191D-B00E-986C-06919168FDEF}"/>
              </a:ext>
            </a:extLst>
          </p:cNvPr>
          <p:cNvSpPr>
            <a:spLocks noGrp="1"/>
          </p:cNvSpPr>
          <p:nvPr>
            <p:ph type="title"/>
          </p:nvPr>
        </p:nvSpPr>
        <p:spPr>
          <a:xfrm>
            <a:off x="430306" y="2868705"/>
            <a:ext cx="11358282" cy="2378075"/>
          </a:xfrm>
        </p:spPr>
        <p:txBody>
          <a:bodyPr>
            <a:normAutofit/>
          </a:bodyPr>
          <a:lstStyle/>
          <a:p>
            <a:pPr marL="6350" indent="-6350">
              <a:lnSpc>
                <a:spcPct val="107000"/>
              </a:lnSpc>
              <a:spcAft>
                <a:spcPts val="775"/>
              </a:spcAft>
            </a:pPr>
            <a:r>
              <a:rPr lang="en-IN" sz="1800" b="1" dirty="0">
                <a:solidFill>
                  <a:srgbClr val="262626"/>
                </a:solidFill>
                <a:effectLst/>
                <a:latin typeface="Times New Roman" panose="02020603050405020304" pitchFamily="18" charset="0"/>
                <a:ea typeface="Times New Roman" panose="02020603050405020304" pitchFamily="18" charset="0"/>
              </a:rPr>
              <a:t>Objectives of Project: </a:t>
            </a:r>
            <a:br>
              <a:rPr lang="en-IN" sz="1800" b="1" dirty="0">
                <a:solidFill>
                  <a:srgbClr val="262626"/>
                </a:solidFill>
                <a:effectLst/>
                <a:latin typeface="Times New Roman" panose="02020603050405020304" pitchFamily="18" charset="0"/>
                <a:ea typeface="Times New Roman" panose="02020603050405020304" pitchFamily="18" charset="0"/>
              </a:rPr>
            </a:br>
            <a:br>
              <a:rPr lang="en-IN" sz="1800" dirty="0">
                <a:solidFill>
                  <a:srgbClr val="000000"/>
                </a:solidFill>
                <a:effectLst/>
                <a:latin typeface="Times New Roman" panose="02020603050405020304" pitchFamily="18" charset="0"/>
                <a:ea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rPr>
              <a:t>The College Notes Management System website will be a user-friendly platform that allows faculty members to upload, and share notes for different classes and subjects with student. The website will be accessible from any device with internet access and will be optimized for both desktop and mobile devices. The website will be designed with a clean and modern user interface</a:t>
            </a:r>
          </a:p>
        </p:txBody>
      </p:sp>
      <p:sp>
        <p:nvSpPr>
          <p:cNvPr id="3" name="Title 1">
            <a:extLst>
              <a:ext uri="{FF2B5EF4-FFF2-40B4-BE49-F238E27FC236}">
                <a16:creationId xmlns:a16="http://schemas.microsoft.com/office/drawing/2014/main" id="{EDE40412-291B-F3A4-2795-424D75C12E4E}"/>
              </a:ext>
            </a:extLst>
          </p:cNvPr>
          <p:cNvSpPr txBox="1">
            <a:spLocks/>
          </p:cNvSpPr>
          <p:nvPr/>
        </p:nvSpPr>
        <p:spPr>
          <a:xfrm>
            <a:off x="430306" y="358587"/>
            <a:ext cx="11358282" cy="23780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350" indent="-6350">
              <a:lnSpc>
                <a:spcPct val="107000"/>
              </a:lnSpc>
              <a:spcAft>
                <a:spcPts val="785"/>
              </a:spcAft>
            </a:pPr>
            <a:r>
              <a:rPr lang="en-IN" sz="1800" b="1">
                <a:solidFill>
                  <a:srgbClr val="000000"/>
                </a:solidFill>
                <a:latin typeface="Times New Roman" panose="02020603050405020304" pitchFamily="18" charset="0"/>
                <a:ea typeface="Times New Roman" panose="02020603050405020304" pitchFamily="18" charset="0"/>
              </a:rPr>
              <a:t>Introduction: </a:t>
            </a:r>
            <a:br>
              <a:rPr lang="en-IN" sz="1800" b="1">
                <a:solidFill>
                  <a:srgbClr val="000000"/>
                </a:solidFill>
                <a:latin typeface="Times New Roman" panose="02020603050405020304" pitchFamily="18" charset="0"/>
                <a:ea typeface="Times New Roman" panose="02020603050405020304" pitchFamily="18" charset="0"/>
              </a:rPr>
            </a:br>
            <a:br>
              <a:rPr lang="en-IN" sz="1800">
                <a:solidFill>
                  <a:srgbClr val="000000"/>
                </a:solidFill>
                <a:latin typeface="Times New Roman" panose="02020603050405020304" pitchFamily="18" charset="0"/>
                <a:ea typeface="Times New Roman" panose="02020603050405020304" pitchFamily="18" charset="0"/>
              </a:rPr>
            </a:br>
            <a:r>
              <a:rPr lang="en-IN" sz="1800">
                <a:solidFill>
                  <a:srgbClr val="000000"/>
                </a:solidFill>
                <a:latin typeface="Times New Roman" panose="02020603050405020304" pitchFamily="18" charset="0"/>
                <a:ea typeface="Times New Roman" panose="02020603050405020304" pitchFamily="18" charset="0"/>
              </a:rPr>
              <a:t>The College Notes Management System (CNMS) is a web application designed to help college students manage and organize their notes and study materials. The application allows students to access notes and study material shared by teachers. The CNMS will provide a centralized location for all notes, making it easy for students to access the information they need when they need it.</a:t>
            </a:r>
            <a:endParaRPr lang="en-IN" sz="1800"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1340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DE40412-291B-F3A4-2795-424D75C12E4E}"/>
              </a:ext>
            </a:extLst>
          </p:cNvPr>
          <p:cNvSpPr txBox="1">
            <a:spLocks/>
          </p:cNvSpPr>
          <p:nvPr/>
        </p:nvSpPr>
        <p:spPr>
          <a:xfrm>
            <a:off x="1183341" y="2124634"/>
            <a:ext cx="11358282" cy="23780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Hardware And Software</a:t>
            </a:r>
            <a:endParaRPr lang="en-IN" sz="12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     Hardware:  </a:t>
            </a:r>
            <a:endParaRPr lang="en-IN" sz="12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07000"/>
              </a:lnSpc>
              <a:spcAft>
                <a:spcPts val="795"/>
              </a:spcAft>
              <a:buSzPts val="1200"/>
              <a:buFont typeface="Times New Roman" panose="02020603050405020304" pitchFamily="18" charset="0"/>
              <a:buAutoNum type="arabicPeriod"/>
              <a:tabLst>
                <a:tab pos="978535" algn="l"/>
              </a:tabLst>
            </a:pPr>
            <a:r>
              <a:rPr lang="en-IN" sz="1200" dirty="0">
                <a:solidFill>
                  <a:srgbClr val="000000"/>
                </a:solidFill>
                <a:effectLst/>
                <a:latin typeface="Times New Roman" panose="02020603050405020304" pitchFamily="18" charset="0"/>
                <a:ea typeface="Times New Roman" panose="02020603050405020304" pitchFamily="18" charset="0"/>
              </a:rPr>
              <a:t>Laptop/Desktop</a:t>
            </a:r>
          </a:p>
          <a:p>
            <a:pPr marL="342900" lvl="0" indent="-342900" algn="just">
              <a:lnSpc>
                <a:spcPct val="107000"/>
              </a:lnSpc>
              <a:spcBef>
                <a:spcPts val="700"/>
              </a:spcBef>
              <a:spcAft>
                <a:spcPts val="795"/>
              </a:spcAft>
              <a:buSzPts val="1200"/>
              <a:buFont typeface="Times New Roman" panose="02020603050405020304" pitchFamily="18" charset="0"/>
              <a:buAutoNum type="arabicPeriod"/>
              <a:tabLst>
                <a:tab pos="978535" algn="l"/>
              </a:tabLst>
            </a:pPr>
            <a:r>
              <a:rPr lang="en-IN" sz="1200" dirty="0">
                <a:solidFill>
                  <a:srgbClr val="000000"/>
                </a:solidFill>
                <a:effectLst/>
                <a:latin typeface="Times New Roman" panose="02020603050405020304" pitchFamily="18" charset="0"/>
                <a:ea typeface="Times New Roman" panose="02020603050405020304" pitchFamily="18" charset="0"/>
              </a:rPr>
              <a:t>It</a:t>
            </a:r>
            <a:r>
              <a:rPr lang="en-IN" sz="1200" spc="-35"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must be</a:t>
            </a:r>
            <a:r>
              <a:rPr lang="en-IN" sz="1200" spc="-35"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Pentium-4.</a:t>
            </a:r>
          </a:p>
          <a:p>
            <a:pPr marL="342900" lvl="0" indent="-342900" algn="just">
              <a:lnSpc>
                <a:spcPct val="107000"/>
              </a:lnSpc>
              <a:spcBef>
                <a:spcPts val="695"/>
              </a:spcBef>
              <a:spcAft>
                <a:spcPts val="795"/>
              </a:spcAft>
              <a:buSzPts val="1200"/>
              <a:buFont typeface="Times New Roman" panose="02020603050405020304" pitchFamily="18" charset="0"/>
              <a:buAutoNum type="arabicPeriod"/>
              <a:tabLst>
                <a:tab pos="978535" algn="l"/>
              </a:tabLst>
            </a:pPr>
            <a:r>
              <a:rPr lang="en-IN" sz="1200" dirty="0">
                <a:solidFill>
                  <a:srgbClr val="000000"/>
                </a:solidFill>
                <a:effectLst/>
                <a:latin typeface="Times New Roman" panose="02020603050405020304" pitchFamily="18" charset="0"/>
                <a:ea typeface="Times New Roman" panose="02020603050405020304" pitchFamily="18" charset="0"/>
              </a:rPr>
              <a:t>It</a:t>
            </a:r>
            <a:r>
              <a:rPr lang="en-IN" sz="1200" spc="-5"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must have</a:t>
            </a:r>
            <a:r>
              <a:rPr lang="en-IN" sz="1200" spc="-50"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128MB</a:t>
            </a:r>
            <a:r>
              <a:rPr lang="en-IN" sz="1200" spc="-25"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or</a:t>
            </a:r>
            <a:r>
              <a:rPr lang="en-IN" sz="1200" spc="-10"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above</a:t>
            </a:r>
            <a:r>
              <a:rPr lang="en-IN" sz="1200" spc="-40"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RAM</a:t>
            </a:r>
            <a:r>
              <a:rPr lang="en-IN" sz="1200" spc="-5"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capacity.</a:t>
            </a:r>
          </a:p>
          <a:p>
            <a:pPr marL="342900" lvl="0" indent="-342900" algn="just">
              <a:lnSpc>
                <a:spcPct val="107000"/>
              </a:lnSpc>
              <a:spcBef>
                <a:spcPts val="685"/>
              </a:spcBef>
              <a:spcAft>
                <a:spcPts val="795"/>
              </a:spcAft>
              <a:buSzPts val="1200"/>
              <a:buFont typeface="Times New Roman" panose="02020603050405020304" pitchFamily="18" charset="0"/>
              <a:buAutoNum type="arabicPeriod"/>
              <a:tabLst>
                <a:tab pos="978535" algn="l"/>
              </a:tabLst>
            </a:pPr>
            <a:r>
              <a:rPr lang="en-IN" sz="1200" spc="-5" dirty="0">
                <a:solidFill>
                  <a:srgbClr val="000000"/>
                </a:solidFill>
                <a:effectLst/>
                <a:latin typeface="Times New Roman" panose="02020603050405020304" pitchFamily="18" charset="0"/>
                <a:ea typeface="Times New Roman" panose="02020603050405020304" pitchFamily="18" charset="0"/>
              </a:rPr>
              <a:t>Internet</a:t>
            </a:r>
            <a:r>
              <a:rPr lang="en-IN" sz="1200" spc="-60"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Connection.</a:t>
            </a:r>
          </a:p>
          <a:p>
            <a:pPr marL="342900" lvl="0" indent="-342900" algn="just">
              <a:lnSpc>
                <a:spcPct val="107000"/>
              </a:lnSpc>
              <a:spcBef>
                <a:spcPts val="685"/>
              </a:spcBef>
              <a:spcAft>
                <a:spcPts val="795"/>
              </a:spcAft>
              <a:buSzPts val="1200"/>
              <a:buFont typeface="Times New Roman" panose="02020603050405020304" pitchFamily="18" charset="0"/>
              <a:buAutoNum type="arabicPeriod"/>
              <a:tabLst>
                <a:tab pos="978535" algn="l"/>
              </a:tabLst>
            </a:pPr>
            <a:r>
              <a:rPr lang="en-IN" sz="1200" dirty="0">
                <a:solidFill>
                  <a:srgbClr val="000000"/>
                </a:solidFill>
                <a:effectLst/>
                <a:latin typeface="Times New Roman" panose="02020603050405020304" pitchFamily="18" charset="0"/>
                <a:ea typeface="Times New Roman" panose="02020603050405020304" pitchFamily="18" charset="0"/>
              </a:rPr>
              <a:t>HDD: - 40GB</a:t>
            </a: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    Software: </a:t>
            </a:r>
            <a:endParaRPr lang="en-IN" sz="12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795"/>
              </a:spcAft>
            </a:pPr>
            <a:r>
              <a:rPr lang="en-IN" sz="1200" dirty="0">
                <a:solidFill>
                  <a:srgbClr val="000000"/>
                </a:solidFill>
                <a:effectLst/>
                <a:latin typeface="Times New Roman" panose="02020603050405020304" pitchFamily="18" charset="0"/>
                <a:ea typeface="Times New Roman" panose="02020603050405020304" pitchFamily="18" charset="0"/>
              </a:rPr>
              <a:t>                   </a:t>
            </a:r>
            <a:r>
              <a:rPr lang="en-IN" sz="1200" b="1" dirty="0">
                <a:solidFill>
                  <a:srgbClr val="000000"/>
                </a:solidFill>
                <a:effectLst/>
                <a:latin typeface="Times New Roman" panose="02020603050405020304" pitchFamily="18" charset="0"/>
                <a:ea typeface="Times New Roman" panose="02020603050405020304" pitchFamily="18" charset="0"/>
              </a:rPr>
              <a:t>IDE:</a:t>
            </a:r>
            <a:r>
              <a:rPr lang="en-IN" sz="1200" dirty="0">
                <a:solidFill>
                  <a:srgbClr val="000000"/>
                </a:solidFill>
                <a:effectLst/>
                <a:latin typeface="Times New Roman" panose="02020603050405020304" pitchFamily="18" charset="0"/>
                <a:ea typeface="Times New Roman" panose="02020603050405020304" pitchFamily="18" charset="0"/>
              </a:rPr>
              <a:t> Eclipse</a:t>
            </a: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                   Operating System</a:t>
            </a:r>
            <a:r>
              <a:rPr lang="en-IN" sz="1200" dirty="0">
                <a:solidFill>
                  <a:srgbClr val="000000"/>
                </a:solidFill>
                <a:effectLst/>
                <a:latin typeface="Times New Roman" panose="02020603050405020304" pitchFamily="18" charset="0"/>
                <a:ea typeface="Times New Roman" panose="02020603050405020304" pitchFamily="18" charset="0"/>
              </a:rPr>
              <a:t>: Windows </a:t>
            </a: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rPr>
              <a:t> </a:t>
            </a:r>
            <a:r>
              <a:rPr lang="en-IN" sz="1200" b="1" dirty="0">
                <a:solidFill>
                  <a:srgbClr val="000000"/>
                </a:solidFill>
                <a:effectLst/>
                <a:latin typeface="Times New Roman" panose="02020603050405020304" pitchFamily="18" charset="0"/>
                <a:ea typeface="Times New Roman" panose="02020603050405020304" pitchFamily="18" charset="0"/>
              </a:rPr>
              <a:t>Browser:</a:t>
            </a:r>
            <a:r>
              <a:rPr lang="en-IN" sz="1200" dirty="0">
                <a:solidFill>
                  <a:srgbClr val="000000"/>
                </a:solidFill>
                <a:effectLst/>
                <a:latin typeface="Times New Roman" panose="02020603050405020304" pitchFamily="18" charset="0"/>
                <a:ea typeface="Times New Roman" panose="02020603050405020304" pitchFamily="18" charset="0"/>
              </a:rPr>
              <a:t> Google Chrome/Microsoft Edge/Mozilla </a:t>
            </a:r>
            <a:r>
              <a:rPr lang="en-IN" sz="1200" dirty="0" err="1">
                <a:solidFill>
                  <a:srgbClr val="000000"/>
                </a:solidFill>
                <a:effectLst/>
                <a:latin typeface="Times New Roman" panose="02020603050405020304" pitchFamily="18" charset="0"/>
                <a:ea typeface="Times New Roman" panose="02020603050405020304" pitchFamily="18" charset="0"/>
              </a:rPr>
              <a:t>Firefo</a:t>
            </a:r>
            <a:endParaRPr lang="en-IN" sz="12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                   Database</a:t>
            </a:r>
            <a:r>
              <a:rPr lang="en-IN" sz="1200" dirty="0">
                <a:solidFill>
                  <a:srgbClr val="000000"/>
                </a:solidFill>
                <a:effectLst/>
                <a:latin typeface="Times New Roman" panose="02020603050405020304" pitchFamily="18" charset="0"/>
                <a:ea typeface="Times New Roman" panose="02020603050405020304" pitchFamily="18" charset="0"/>
              </a:rPr>
              <a:t>: XAMPP Server  </a:t>
            </a: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Technology/Language Used: </a:t>
            </a:r>
            <a:endParaRPr lang="en-IN" sz="12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795"/>
              </a:spcAft>
            </a:pPr>
            <a:r>
              <a:rPr lang="en-IN" sz="1200" b="1" dirty="0">
                <a:solidFill>
                  <a:srgbClr val="000000"/>
                </a:solidFill>
                <a:effectLst/>
                <a:latin typeface="Times New Roman" panose="02020603050405020304" pitchFamily="18" charset="0"/>
                <a:ea typeface="Times New Roman" panose="02020603050405020304" pitchFamily="18" charset="0"/>
              </a:rPr>
              <a:t>       Front-end:</a:t>
            </a:r>
            <a:r>
              <a:rPr lang="en-IN" sz="1200" dirty="0">
                <a:solidFill>
                  <a:srgbClr val="000000"/>
                </a:solidFill>
                <a:effectLst/>
                <a:latin typeface="Times New Roman" panose="02020603050405020304" pitchFamily="18" charset="0"/>
                <a:ea typeface="Times New Roman" panose="02020603050405020304" pitchFamily="18" charset="0"/>
              </a:rPr>
              <a:t> HTML, CSS, JavaScript, Tailwind CSS</a:t>
            </a:r>
          </a:p>
          <a:p>
            <a:pPr marL="6350" indent="-6350">
              <a:lnSpc>
                <a:spcPct val="107000"/>
              </a:lnSpc>
              <a:spcAft>
                <a:spcPts val="795"/>
              </a:spcAft>
            </a:pPr>
            <a:r>
              <a:rPr lang="en-IN" sz="1200" b="1" dirty="0">
                <a:solidFill>
                  <a:srgbClr val="000000"/>
                </a:solidFill>
                <a:effectLst/>
                <a:latin typeface="Times New Roman" panose="02020603050405020304" pitchFamily="18" charset="0"/>
                <a:ea typeface="Times New Roman" panose="02020603050405020304" pitchFamily="18" charset="0"/>
              </a:rPr>
              <a:t>       Back-end:</a:t>
            </a:r>
            <a:r>
              <a:rPr lang="en-IN" sz="1200" dirty="0">
                <a:solidFill>
                  <a:srgbClr val="000000"/>
                </a:solidFill>
                <a:effectLst/>
                <a:latin typeface="Times New Roman" panose="02020603050405020304" pitchFamily="18" charset="0"/>
                <a:ea typeface="Times New Roman" panose="02020603050405020304" pitchFamily="18" charset="0"/>
              </a:rPr>
              <a:t> JAVA, (JSP/Servlet)</a:t>
            </a:r>
          </a:p>
          <a:p>
            <a:pPr marL="6350" indent="-6350">
              <a:lnSpc>
                <a:spcPct val="107000"/>
              </a:lnSpc>
              <a:spcAft>
                <a:spcPts val="785"/>
              </a:spcAft>
            </a:pPr>
            <a:r>
              <a:rPr lang="en-IN" sz="1200" b="1" dirty="0">
                <a:solidFill>
                  <a:srgbClr val="000000"/>
                </a:solidFill>
                <a:effectLst/>
                <a:latin typeface="Times New Roman" panose="02020603050405020304" pitchFamily="18" charset="0"/>
                <a:ea typeface="Times New Roman" panose="02020603050405020304" pitchFamily="18" charset="0"/>
              </a:rPr>
              <a:t>       Database:</a:t>
            </a:r>
            <a:r>
              <a:rPr lang="en-IN" sz="1200" dirty="0">
                <a:solidFill>
                  <a:srgbClr val="000000"/>
                </a:solidFill>
                <a:effectLst/>
                <a:latin typeface="Times New Roman" panose="02020603050405020304" pitchFamily="18" charset="0"/>
                <a:ea typeface="Times New Roman" panose="02020603050405020304" pitchFamily="18" charset="0"/>
              </a:rPr>
              <a:t> MySQL </a:t>
            </a:r>
          </a:p>
        </p:txBody>
      </p:sp>
    </p:spTree>
    <p:extLst>
      <p:ext uri="{BB962C8B-B14F-4D97-AF65-F5344CB8AC3E}">
        <p14:creationId xmlns:p14="http://schemas.microsoft.com/office/powerpoint/2010/main" val="1320433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DE40412-291B-F3A4-2795-424D75C12E4E}"/>
              </a:ext>
            </a:extLst>
          </p:cNvPr>
          <p:cNvSpPr txBox="1">
            <a:spLocks/>
          </p:cNvSpPr>
          <p:nvPr/>
        </p:nvSpPr>
        <p:spPr>
          <a:xfrm>
            <a:off x="416859" y="358587"/>
            <a:ext cx="11358282" cy="23780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350" indent="-6350">
              <a:lnSpc>
                <a:spcPct val="107000"/>
              </a:lnSpc>
              <a:spcAft>
                <a:spcPts val="795"/>
              </a:spcAft>
            </a:pPr>
            <a:r>
              <a:rPr lang="en-IN" sz="1800" b="1" dirty="0">
                <a:solidFill>
                  <a:srgbClr val="000000"/>
                </a:solidFill>
                <a:effectLst/>
                <a:latin typeface="Times New Roman" panose="02020603050405020304" pitchFamily="18" charset="0"/>
                <a:ea typeface="Times New Roman" panose="02020603050405020304" pitchFamily="18" charset="0"/>
              </a:rPr>
              <a:t> </a:t>
            </a:r>
            <a:endParaRPr lang="en-IN" sz="18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795"/>
              </a:spcAft>
            </a:pPr>
            <a:r>
              <a:rPr lang="en-IN" sz="1800" b="1" dirty="0">
                <a:solidFill>
                  <a:srgbClr val="000000"/>
                </a:solidFill>
                <a:effectLst/>
                <a:latin typeface="Times New Roman" panose="02020603050405020304" pitchFamily="18" charset="0"/>
                <a:ea typeface="Times New Roman" panose="02020603050405020304" pitchFamily="18" charset="0"/>
              </a:rPr>
              <a:t>Functional Requirements</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Admin portal</a:t>
            </a: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Users will be able to login in the website using their email and password provided by admin</a:t>
            </a: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Once logged in, users will be able to upload and download notes for different classes and subject</a:t>
            </a: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Users will be able to mark notes as private or public.</a:t>
            </a:r>
          </a:p>
          <a:p>
            <a:pPr marL="342900" lvl="0" indent="-342900">
              <a:lnSpc>
                <a:spcPct val="107000"/>
              </a:lnSpc>
              <a:spcAft>
                <a:spcPts val="795"/>
              </a:spcAft>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Users will be able to reset their password if they forget it.</a:t>
            </a:r>
          </a:p>
        </p:txBody>
      </p:sp>
      <p:sp>
        <p:nvSpPr>
          <p:cNvPr id="6" name="Title 1">
            <a:extLst>
              <a:ext uri="{FF2B5EF4-FFF2-40B4-BE49-F238E27FC236}">
                <a16:creationId xmlns:a16="http://schemas.microsoft.com/office/drawing/2014/main" id="{B557AF88-F97E-0EDE-DFE4-E338BC79CDB4}"/>
              </a:ext>
            </a:extLst>
          </p:cNvPr>
          <p:cNvSpPr txBox="1">
            <a:spLocks/>
          </p:cNvSpPr>
          <p:nvPr/>
        </p:nvSpPr>
        <p:spPr>
          <a:xfrm>
            <a:off x="515471" y="3083857"/>
            <a:ext cx="11358282" cy="2357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350" indent="-6350">
              <a:lnSpc>
                <a:spcPct val="107000"/>
              </a:lnSpc>
              <a:spcAft>
                <a:spcPts val="795"/>
              </a:spcAft>
            </a:pPr>
            <a:r>
              <a:rPr lang="en-IN" sz="1800" b="1" dirty="0">
                <a:solidFill>
                  <a:srgbClr val="000000"/>
                </a:solidFill>
                <a:effectLst/>
                <a:latin typeface="Times New Roman" panose="02020603050405020304" pitchFamily="18" charset="0"/>
                <a:ea typeface="Times New Roman" panose="02020603050405020304" pitchFamily="18" charset="0"/>
              </a:rPr>
              <a:t>Non-Functional Requirements</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The website will be designed to be responsive and accessible on all devices and screen sizes.</a:t>
            </a: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The website will be designed with a clean and modern user interface.</a:t>
            </a:r>
          </a:p>
          <a:p>
            <a:pPr marL="342900" lvl="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The website will be designed to be user-friendly and easy to navigate.</a:t>
            </a:r>
          </a:p>
          <a:p>
            <a:pPr marL="342900" lvl="0" indent="-342900">
              <a:lnSpc>
                <a:spcPct val="107000"/>
              </a:lnSpc>
              <a:spcAft>
                <a:spcPts val="795"/>
              </a:spcAft>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The website will be designed to be secure and protect user data from unauthorized access and breaches.</a:t>
            </a:r>
          </a:p>
        </p:txBody>
      </p:sp>
    </p:spTree>
    <p:extLst>
      <p:ext uri="{BB962C8B-B14F-4D97-AF65-F5344CB8AC3E}">
        <p14:creationId xmlns:p14="http://schemas.microsoft.com/office/powerpoint/2010/main" val="4100829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666B-9A18-5DC9-AEE0-22CAD2D0439C}"/>
              </a:ext>
            </a:extLst>
          </p:cNvPr>
          <p:cNvSpPr>
            <a:spLocks noGrp="1"/>
          </p:cNvSpPr>
          <p:nvPr>
            <p:ph type="title"/>
          </p:nvPr>
        </p:nvSpPr>
        <p:spPr>
          <a:xfrm>
            <a:off x="838200" y="365125"/>
            <a:ext cx="10515600" cy="477557"/>
          </a:xfrm>
        </p:spPr>
        <p:txBody>
          <a:bodyPr/>
          <a:lstStyle/>
          <a:p>
            <a:r>
              <a:rPr lang="en-IN" sz="1800" b="1" dirty="0">
                <a:solidFill>
                  <a:srgbClr val="000000"/>
                </a:solidFill>
                <a:effectLst/>
                <a:latin typeface="Times New Roman" panose="02020603050405020304" pitchFamily="18" charset="0"/>
                <a:ea typeface="Times New Roman" panose="02020603050405020304" pitchFamily="18" charset="0"/>
              </a:rPr>
              <a:t>USE CASE DIAGRAM</a:t>
            </a:r>
            <a:endParaRPr lang="en-IN" dirty="0"/>
          </a:p>
        </p:txBody>
      </p:sp>
      <p:pic>
        <p:nvPicPr>
          <p:cNvPr id="5" name="Picture 4">
            <a:extLst>
              <a:ext uri="{FF2B5EF4-FFF2-40B4-BE49-F238E27FC236}">
                <a16:creationId xmlns:a16="http://schemas.microsoft.com/office/drawing/2014/main" id="{8A6E5E51-E97E-930F-0EFA-F30F89B8A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237" y="852487"/>
            <a:ext cx="7629525" cy="5153025"/>
          </a:xfrm>
          <a:prstGeom prst="rect">
            <a:avLst/>
          </a:prstGeom>
        </p:spPr>
      </p:pic>
    </p:spTree>
    <p:extLst>
      <p:ext uri="{BB962C8B-B14F-4D97-AF65-F5344CB8AC3E}">
        <p14:creationId xmlns:p14="http://schemas.microsoft.com/office/powerpoint/2010/main" val="2175723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666B-9A18-5DC9-AEE0-22CAD2D0439C}"/>
              </a:ext>
            </a:extLst>
          </p:cNvPr>
          <p:cNvSpPr>
            <a:spLocks noGrp="1"/>
          </p:cNvSpPr>
          <p:nvPr>
            <p:ph type="title"/>
          </p:nvPr>
        </p:nvSpPr>
        <p:spPr>
          <a:xfrm>
            <a:off x="838200" y="365125"/>
            <a:ext cx="10515600" cy="477557"/>
          </a:xfrm>
        </p:spPr>
        <p:txBody>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Activity Diagram For Admin</a:t>
            </a:r>
          </a:p>
        </p:txBody>
      </p:sp>
      <p:pic>
        <p:nvPicPr>
          <p:cNvPr id="5" name="Picture 4">
            <a:extLst>
              <a:ext uri="{FF2B5EF4-FFF2-40B4-BE49-F238E27FC236}">
                <a16:creationId xmlns:a16="http://schemas.microsoft.com/office/drawing/2014/main" id="{B6C44E6E-F834-880F-3A1B-E893584B6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8972" y="365125"/>
            <a:ext cx="5449852" cy="6322546"/>
          </a:xfrm>
          <a:prstGeom prst="rect">
            <a:avLst/>
          </a:prstGeom>
        </p:spPr>
      </p:pic>
    </p:spTree>
    <p:extLst>
      <p:ext uri="{BB962C8B-B14F-4D97-AF65-F5344CB8AC3E}">
        <p14:creationId xmlns:p14="http://schemas.microsoft.com/office/powerpoint/2010/main" val="3647333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666B-9A18-5DC9-AEE0-22CAD2D0439C}"/>
              </a:ext>
            </a:extLst>
          </p:cNvPr>
          <p:cNvSpPr>
            <a:spLocks noGrp="1"/>
          </p:cNvSpPr>
          <p:nvPr>
            <p:ph type="title"/>
          </p:nvPr>
        </p:nvSpPr>
        <p:spPr>
          <a:xfrm>
            <a:off x="838200" y="365125"/>
            <a:ext cx="10515600" cy="477557"/>
          </a:xfrm>
        </p:spPr>
        <p:txBody>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Activity Diagram For Student</a:t>
            </a:r>
          </a:p>
        </p:txBody>
      </p:sp>
      <p:pic>
        <p:nvPicPr>
          <p:cNvPr id="7" name="Picture 6">
            <a:extLst>
              <a:ext uri="{FF2B5EF4-FFF2-40B4-BE49-F238E27FC236}">
                <a16:creationId xmlns:a16="http://schemas.microsoft.com/office/drawing/2014/main" id="{0199C91A-2B2B-641B-2A7B-E3ED58A06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0025" y="409575"/>
            <a:ext cx="4171950" cy="6038850"/>
          </a:xfrm>
          <a:prstGeom prst="rect">
            <a:avLst/>
          </a:prstGeom>
        </p:spPr>
      </p:pic>
    </p:spTree>
    <p:extLst>
      <p:ext uri="{BB962C8B-B14F-4D97-AF65-F5344CB8AC3E}">
        <p14:creationId xmlns:p14="http://schemas.microsoft.com/office/powerpoint/2010/main" val="2132361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666B-9A18-5DC9-AEE0-22CAD2D0439C}"/>
              </a:ext>
            </a:extLst>
          </p:cNvPr>
          <p:cNvSpPr>
            <a:spLocks noGrp="1"/>
          </p:cNvSpPr>
          <p:nvPr>
            <p:ph type="title"/>
          </p:nvPr>
        </p:nvSpPr>
        <p:spPr>
          <a:xfrm>
            <a:off x="838200" y="365125"/>
            <a:ext cx="10515600" cy="477557"/>
          </a:xfrm>
        </p:spPr>
        <p:txBody>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Activity Diagram For Teacher </a:t>
            </a:r>
          </a:p>
        </p:txBody>
      </p:sp>
      <p:pic>
        <p:nvPicPr>
          <p:cNvPr id="5" name="Picture 4">
            <a:extLst>
              <a:ext uri="{FF2B5EF4-FFF2-40B4-BE49-F238E27FC236}">
                <a16:creationId xmlns:a16="http://schemas.microsoft.com/office/drawing/2014/main" id="{7D1DEE25-3DBC-672A-3081-CB6C3C1D7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2525" y="1219200"/>
            <a:ext cx="2266950" cy="4419600"/>
          </a:xfrm>
          <a:prstGeom prst="rect">
            <a:avLst/>
          </a:prstGeom>
        </p:spPr>
      </p:pic>
    </p:spTree>
    <p:extLst>
      <p:ext uri="{BB962C8B-B14F-4D97-AF65-F5344CB8AC3E}">
        <p14:creationId xmlns:p14="http://schemas.microsoft.com/office/powerpoint/2010/main" val="2437892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666B-9A18-5DC9-AEE0-22CAD2D0439C}"/>
              </a:ext>
            </a:extLst>
          </p:cNvPr>
          <p:cNvSpPr>
            <a:spLocks noGrp="1"/>
          </p:cNvSpPr>
          <p:nvPr>
            <p:ph type="title"/>
          </p:nvPr>
        </p:nvSpPr>
        <p:spPr>
          <a:xfrm>
            <a:off x="838200" y="365125"/>
            <a:ext cx="10515600" cy="477557"/>
          </a:xfrm>
        </p:spPr>
        <p:txBody>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Er Diagram</a:t>
            </a:r>
          </a:p>
        </p:txBody>
      </p:sp>
      <p:pic>
        <p:nvPicPr>
          <p:cNvPr id="3" name="Picture 2">
            <a:extLst>
              <a:ext uri="{FF2B5EF4-FFF2-40B4-BE49-F238E27FC236}">
                <a16:creationId xmlns:a16="http://schemas.microsoft.com/office/drawing/2014/main" id="{A5B3629C-4930-3CE2-5FA7-B8B320EED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0575" y="1486166"/>
            <a:ext cx="4524226" cy="4717205"/>
          </a:xfrm>
          <a:prstGeom prst="rect">
            <a:avLst/>
          </a:prstGeom>
        </p:spPr>
      </p:pic>
    </p:spTree>
    <p:extLst>
      <p:ext uri="{BB962C8B-B14F-4D97-AF65-F5344CB8AC3E}">
        <p14:creationId xmlns:p14="http://schemas.microsoft.com/office/powerpoint/2010/main" val="3107125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666B-9A18-5DC9-AEE0-22CAD2D0439C}"/>
              </a:ext>
            </a:extLst>
          </p:cNvPr>
          <p:cNvSpPr>
            <a:spLocks noGrp="1"/>
          </p:cNvSpPr>
          <p:nvPr>
            <p:ph type="title"/>
          </p:nvPr>
        </p:nvSpPr>
        <p:spPr>
          <a:xfrm>
            <a:off x="838200" y="365125"/>
            <a:ext cx="10515600" cy="477557"/>
          </a:xfrm>
        </p:spPr>
        <p:txBody>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Mangal" panose="02040503050203030202" pitchFamily="18" charset="0"/>
              </a:rPr>
              <a:t>Admin Sequence</a:t>
            </a:r>
          </a:p>
        </p:txBody>
      </p:sp>
      <p:pic>
        <p:nvPicPr>
          <p:cNvPr id="5" name="Picture 4">
            <a:extLst>
              <a:ext uri="{FF2B5EF4-FFF2-40B4-BE49-F238E27FC236}">
                <a16:creationId xmlns:a16="http://schemas.microsoft.com/office/drawing/2014/main" id="{2048E25A-BDA7-4414-5ADB-B29228FD7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5715" y="842682"/>
            <a:ext cx="5715532" cy="5880848"/>
          </a:xfrm>
          <a:prstGeom prst="rect">
            <a:avLst/>
          </a:prstGeom>
        </p:spPr>
      </p:pic>
    </p:spTree>
    <p:extLst>
      <p:ext uri="{BB962C8B-B14F-4D97-AF65-F5344CB8AC3E}">
        <p14:creationId xmlns:p14="http://schemas.microsoft.com/office/powerpoint/2010/main" val="3851317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380</Words>
  <Application>Microsoft Office PowerPoint</Application>
  <PresentationFormat>Widescreen</PresentationFormat>
  <Paragraphs>38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CNMS</vt:lpstr>
      <vt:lpstr>Objectives of Project:   The College Notes Management System website will be a user-friendly platform that allows faculty members to upload, and share notes for different classes and subjects with student. The website will be accessible from any device with internet access and will be optimized for both desktop and mobile devices. The website will be designed with a clean and modern user interface</vt:lpstr>
      <vt:lpstr>PowerPoint Presentation</vt:lpstr>
      <vt:lpstr>PowerPoint Presentation</vt:lpstr>
      <vt:lpstr>USE CASE DIAGRAM</vt:lpstr>
      <vt:lpstr>Activity Diagram For Admin</vt:lpstr>
      <vt:lpstr>Activity Diagram For Student</vt:lpstr>
      <vt:lpstr>Activity Diagram For Teacher </vt:lpstr>
      <vt:lpstr>Er Diagram</vt:lpstr>
      <vt:lpstr>Admin Sequence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CNMS</dc:title>
  <dc:creator>VISHAL SAWAI</dc:creator>
  <cp:lastModifiedBy>VISHAL SAWAI</cp:lastModifiedBy>
  <cp:revision>5</cp:revision>
  <dcterms:created xsi:type="dcterms:W3CDTF">2023-02-03T03:59:46Z</dcterms:created>
  <dcterms:modified xsi:type="dcterms:W3CDTF">2023-02-03T09:38:58Z</dcterms:modified>
</cp:coreProperties>
</file>